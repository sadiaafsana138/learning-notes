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6858000" cx="12192000"/>
  <p:notesSz cx="6858000" cy="9144000"/>
  <p:embeddedFontLst>
    <p:embeddedFont>
      <p:font typeface="Inter SemiBold"/>
      <p:regular r:id="rId17"/>
      <p:bold r:id="rId18"/>
      <p:italic r:id="rId19"/>
      <p:boldItalic r:id="rId20"/>
    </p:embeddedFont>
    <p:embeddedFont>
      <p:font typeface="Montserrat"/>
      <p:regular r:id="rId21"/>
      <p:bold r:id="rId22"/>
      <p:italic r:id="rId23"/>
      <p:boldItalic r:id="rId24"/>
    </p:embeddedFont>
    <p:embeddedFont>
      <p:font typeface="Inter"/>
      <p:regular r:id="rId25"/>
      <p:bold r:id="rId26"/>
      <p:italic r:id="rId27"/>
      <p:boldItalic r:id="rId2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InterSemiBold-boldItalic.fntdata"/><Relationship Id="rId22" Type="http://schemas.openxmlformats.org/officeDocument/2006/relationships/font" Target="fonts/Montserrat-bold.fntdata"/><Relationship Id="rId21" Type="http://schemas.openxmlformats.org/officeDocument/2006/relationships/font" Target="fonts/Montserrat-regular.fntdata"/><Relationship Id="rId24" Type="http://schemas.openxmlformats.org/officeDocument/2006/relationships/font" Target="fonts/Montserrat-boldItalic.fntdata"/><Relationship Id="rId23" Type="http://schemas.openxmlformats.org/officeDocument/2006/relationships/font" Target="fonts/Montserrat-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Inter-bold.fntdata"/><Relationship Id="rId25" Type="http://schemas.openxmlformats.org/officeDocument/2006/relationships/font" Target="fonts/Inter-regular.fntdata"/><Relationship Id="rId28" Type="http://schemas.openxmlformats.org/officeDocument/2006/relationships/font" Target="fonts/Inter-boldItalic.fntdata"/><Relationship Id="rId27" Type="http://schemas.openxmlformats.org/officeDocument/2006/relationships/font" Target="fonts/Inter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InterSemiBold-regular.fntdata"/><Relationship Id="rId16" Type="http://schemas.openxmlformats.org/officeDocument/2006/relationships/slide" Target="slides/slide11.xml"/><Relationship Id="rId19" Type="http://schemas.openxmlformats.org/officeDocument/2006/relationships/font" Target="fonts/InterSemiBold-italic.fntdata"/><Relationship Id="rId18" Type="http://schemas.openxmlformats.org/officeDocument/2006/relationships/font" Target="fonts/InterSemiBold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0.png"/><Relationship Id="rId4" Type="http://schemas.openxmlformats.org/officeDocument/2006/relationships/image" Target="../media/image8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9.png"/><Relationship Id="rId4" Type="http://schemas.openxmlformats.org/officeDocument/2006/relationships/image" Target="../media/image5.png"/><Relationship Id="rId5" Type="http://schemas.openxmlformats.org/officeDocument/2006/relationships/image" Target="../media/image15.png"/><Relationship Id="rId6" Type="http://schemas.openxmlformats.org/officeDocument/2006/relationships/image" Target="../media/image21.png"/><Relationship Id="rId7" Type="http://schemas.openxmlformats.org/officeDocument/2006/relationships/image" Target="../media/image6.png"/><Relationship Id="rId8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2.png"/><Relationship Id="rId4" Type="http://schemas.openxmlformats.org/officeDocument/2006/relationships/image" Target="../media/image2.png"/><Relationship Id="rId5" Type="http://schemas.openxmlformats.org/officeDocument/2006/relationships/image" Target="../media/image17.png"/><Relationship Id="rId6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8.png"/><Relationship Id="rId4" Type="http://schemas.openxmlformats.org/officeDocument/2006/relationships/image" Target="../media/image4.png"/><Relationship Id="rId5" Type="http://schemas.openxmlformats.org/officeDocument/2006/relationships/image" Target="../media/image1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1.png"/><Relationship Id="rId4" Type="http://schemas.openxmlformats.org/officeDocument/2006/relationships/image" Target="../media/image1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0.png"/><Relationship Id="rId4" Type="http://schemas.openxmlformats.org/officeDocument/2006/relationships/image" Target="../media/image7.png"/><Relationship Id="rId5" Type="http://schemas.openxmlformats.org/officeDocument/2006/relationships/image" Target="../media/image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3.png"/><Relationship Id="rId4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/>
          <p:nvPr/>
        </p:nvSpPr>
        <p:spPr>
          <a:xfrm>
            <a:off x="7905750" y="-2381250"/>
            <a:ext cx="6667500" cy="6667500"/>
          </a:xfrm>
          <a:prstGeom prst="roundRect">
            <a:avLst>
              <a:gd fmla="val 50000" name="adj"/>
            </a:avLst>
          </a:prstGeom>
          <a:solidFill>
            <a:srgbClr val="0EA5E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3"/>
          <p:cNvSpPr/>
          <p:nvPr/>
        </p:nvSpPr>
        <p:spPr>
          <a:xfrm>
            <a:off x="-1428750" y="3524250"/>
            <a:ext cx="4762500" cy="4762500"/>
          </a:xfrm>
          <a:prstGeom prst="roundRect">
            <a:avLst>
              <a:gd fmla="val 50000" name="adj"/>
            </a:avLst>
          </a:prstGeom>
          <a:solidFill>
            <a:srgbClr val="F59E0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3"/>
          <p:cNvSpPr txBox="1"/>
          <p:nvPr/>
        </p:nvSpPr>
        <p:spPr>
          <a:xfrm>
            <a:off x="635317" y="2428875"/>
            <a:ext cx="10921365" cy="7542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400" u="none" cap="none" strike="noStrik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Outlier Detection &amp; Handling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2238375" y="3468885"/>
            <a:ext cx="7715250" cy="4266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A Beginner's Guide to Finding and Managing Data Anomalies</a:t>
            </a:r>
            <a:endParaRPr/>
          </a:p>
        </p:txBody>
      </p:sp>
      <p:sp>
        <p:nvSpPr>
          <p:cNvPr id="88" name="Google Shape;88;p13"/>
          <p:cNvSpPr/>
          <p:nvPr/>
        </p:nvSpPr>
        <p:spPr>
          <a:xfrm>
            <a:off x="5524500" y="4371826"/>
            <a:ext cx="1143000" cy="57150"/>
          </a:xfrm>
          <a:prstGeom prst="roundRect">
            <a:avLst>
              <a:gd fmla="val 50000" name="adj"/>
            </a:avLst>
          </a:prstGeom>
          <a:solidFill>
            <a:srgbClr val="0EA5E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3" name="Google Shape;93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81750" y="1632198"/>
            <a:ext cx="5238750" cy="4488953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4"/>
          <p:cNvSpPr txBox="1"/>
          <p:nvPr/>
        </p:nvSpPr>
        <p:spPr>
          <a:xfrm>
            <a:off x="571500" y="2345531"/>
            <a:ext cx="5238750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An </a:t>
            </a:r>
            <a:r>
              <a:rPr b="1" i="0" lang="en-US" sz="16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outlier</a:t>
            </a:r>
            <a:r>
              <a:rPr b="0" i="0" lang="en-US" sz="16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is a data point that differs significantly from other observations in your dataset.</a:t>
            </a:r>
            <a:endParaRPr/>
          </a:p>
        </p:txBody>
      </p:sp>
      <p:sp>
        <p:nvSpPr>
          <p:cNvPr id="95" name="Google Shape;95;p14"/>
          <p:cNvSpPr txBox="1"/>
          <p:nvPr/>
        </p:nvSpPr>
        <p:spPr>
          <a:xfrm>
            <a:off x="571500" y="3206353"/>
            <a:ext cx="5238750" cy="13406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Think of it as the "odd one out." It could be a billionaire moving into a middle-class neighborhood, or a sudden spike in website traffic due to a viral post.</a:t>
            </a:r>
            <a:endParaRPr/>
          </a:p>
        </p:txBody>
      </p:sp>
      <p:sp>
        <p:nvSpPr>
          <p:cNvPr id="96" name="Google Shape;96;p14"/>
          <p:cNvSpPr txBox="1"/>
          <p:nvPr/>
        </p:nvSpPr>
        <p:spPr>
          <a:xfrm>
            <a:off x="571500" y="4737496"/>
            <a:ext cx="5238750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Outliers can be caused by genuine variability in the real world, or they can simply be data entry errors.</a:t>
            </a:r>
            <a:endParaRPr/>
          </a:p>
        </p:txBody>
      </p:sp>
      <p:pic>
        <p:nvPicPr>
          <p:cNvPr descr="image.png" id="97" name="Google Shape;97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91275" y="1641723"/>
            <a:ext cx="5219700" cy="4469903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4"/>
          <p:cNvSpPr txBox="1"/>
          <p:nvPr/>
        </p:nvSpPr>
        <p:spPr>
          <a:xfrm>
            <a:off x="762000" y="571500"/>
            <a:ext cx="11401425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What is an Outlier?</a:t>
            </a:r>
            <a:endParaRPr/>
          </a:p>
        </p:txBody>
      </p:sp>
      <p:sp>
        <p:nvSpPr>
          <p:cNvPr id="99" name="Google Shape;99;p14"/>
          <p:cNvSpPr/>
          <p:nvPr/>
        </p:nvSpPr>
        <p:spPr>
          <a:xfrm>
            <a:off x="571500" y="571500"/>
            <a:ext cx="57150" cy="51435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4" name="Google Shape;104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1847254"/>
            <a:ext cx="3492549" cy="40588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5" name="Google Shape;105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49799" y="1847254"/>
            <a:ext cx="3492549" cy="40588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6" name="Google Shape;106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128099" y="1847254"/>
            <a:ext cx="3492549" cy="405884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5"/>
          <p:cNvSpPr txBox="1"/>
          <p:nvPr/>
        </p:nvSpPr>
        <p:spPr>
          <a:xfrm>
            <a:off x="962025" y="3037879"/>
            <a:ext cx="2847074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Skewed Averages</a:t>
            </a:r>
            <a:endParaRPr/>
          </a:p>
        </p:txBody>
      </p:sp>
      <p:sp>
        <p:nvSpPr>
          <p:cNvPr id="108" name="Google Shape;108;p15"/>
          <p:cNvSpPr txBox="1"/>
          <p:nvPr/>
        </p:nvSpPr>
        <p:spPr>
          <a:xfrm>
            <a:off x="962025" y="3504604"/>
            <a:ext cx="2711499" cy="16758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A single extreme value can drastically pull the "Mean" (average) up or down, giving a false impression of what is considered normal.</a:t>
            </a:r>
            <a:endParaRPr/>
          </a:p>
        </p:txBody>
      </p:sp>
      <p:sp>
        <p:nvSpPr>
          <p:cNvPr id="109" name="Google Shape;109;p15"/>
          <p:cNvSpPr txBox="1"/>
          <p:nvPr/>
        </p:nvSpPr>
        <p:spPr>
          <a:xfrm>
            <a:off x="4740324" y="3037879"/>
            <a:ext cx="2847074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Model Disruption</a:t>
            </a:r>
            <a:endParaRPr/>
          </a:p>
        </p:txBody>
      </p:sp>
      <p:sp>
        <p:nvSpPr>
          <p:cNvPr id="110" name="Google Shape;110;p15"/>
          <p:cNvSpPr txBox="1"/>
          <p:nvPr/>
        </p:nvSpPr>
        <p:spPr>
          <a:xfrm>
            <a:off x="4740324" y="3504604"/>
            <a:ext cx="2711499" cy="20109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Machine learning models try to find general patterns. Outliers confuse algorithms, causing them to make less accurate predictions.</a:t>
            </a:r>
            <a:endParaRPr/>
          </a:p>
        </p:txBody>
      </p:sp>
      <p:sp>
        <p:nvSpPr>
          <p:cNvPr id="111" name="Google Shape;111;p15"/>
          <p:cNvSpPr txBox="1"/>
          <p:nvPr/>
        </p:nvSpPr>
        <p:spPr>
          <a:xfrm>
            <a:off x="8518624" y="3037879"/>
            <a:ext cx="2847074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Hidden Insights</a:t>
            </a:r>
            <a:endParaRPr/>
          </a:p>
        </p:txBody>
      </p:sp>
      <p:sp>
        <p:nvSpPr>
          <p:cNvPr id="112" name="Google Shape;112;p15"/>
          <p:cNvSpPr txBox="1"/>
          <p:nvPr/>
        </p:nvSpPr>
        <p:spPr>
          <a:xfrm>
            <a:off x="8518624" y="3504604"/>
            <a:ext cx="2711499" cy="20109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Sometimes, the outlier IS the insight! In fields like fraud detection or medical diagnosis, the anomaly is exactly what you want to find.</a:t>
            </a:r>
            <a:endParaRPr/>
          </a:p>
        </p:txBody>
      </p:sp>
      <p:pic>
        <p:nvPicPr>
          <p:cNvPr descr="image.png" id="113" name="Google Shape;113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62025" y="2285404"/>
            <a:ext cx="5715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4" name="Google Shape;114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740324" y="2285404"/>
            <a:ext cx="5715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5" name="Google Shape;115;p1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518624" y="2285404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5"/>
          <p:cNvSpPr txBox="1"/>
          <p:nvPr/>
        </p:nvSpPr>
        <p:spPr>
          <a:xfrm>
            <a:off x="762000" y="571500"/>
            <a:ext cx="11401425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Why Do Outliers Matter?</a:t>
            </a:r>
            <a:endParaRPr/>
          </a:p>
        </p:txBody>
      </p:sp>
      <p:sp>
        <p:nvSpPr>
          <p:cNvPr id="117" name="Google Shape;117;p15"/>
          <p:cNvSpPr/>
          <p:nvPr/>
        </p:nvSpPr>
        <p:spPr>
          <a:xfrm>
            <a:off x="571500" y="571500"/>
            <a:ext cx="57150" cy="51435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6"/>
          <p:cNvSpPr/>
          <p:nvPr/>
        </p:nvSpPr>
        <p:spPr>
          <a:xfrm>
            <a:off x="7905750" y="-2381250"/>
            <a:ext cx="6667500" cy="6667500"/>
          </a:xfrm>
          <a:prstGeom prst="roundRect">
            <a:avLst>
              <a:gd fmla="val 50000" name="adj"/>
            </a:avLst>
          </a:prstGeom>
          <a:solidFill>
            <a:srgbClr val="0EA5E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16"/>
          <p:cNvSpPr/>
          <p:nvPr/>
        </p:nvSpPr>
        <p:spPr>
          <a:xfrm>
            <a:off x="5381625" y="2615505"/>
            <a:ext cx="1428750" cy="762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16"/>
          <p:cNvSpPr txBox="1"/>
          <p:nvPr/>
        </p:nvSpPr>
        <p:spPr>
          <a:xfrm>
            <a:off x="2145506" y="2977455"/>
            <a:ext cx="7900987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400" u="none" cap="none" strike="noStrik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1. Detection Methods</a:t>
            </a:r>
            <a:endParaRPr/>
          </a:p>
        </p:txBody>
      </p:sp>
      <p:sp>
        <p:nvSpPr>
          <p:cNvPr id="125" name="Google Shape;125;p16"/>
          <p:cNvSpPr txBox="1"/>
          <p:nvPr/>
        </p:nvSpPr>
        <p:spPr>
          <a:xfrm>
            <a:off x="2890837" y="4101405"/>
            <a:ext cx="6410325" cy="4266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How do we mathematically identify the anomalies?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0" name="Google Shape;130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2223492"/>
            <a:ext cx="5334000" cy="330636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1" name="Google Shape;131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6500" y="2223492"/>
            <a:ext cx="5334000" cy="330636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2" name="Google Shape;132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677025" y="3421112"/>
            <a:ext cx="4552950" cy="1008161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7"/>
          <p:cNvSpPr txBox="1"/>
          <p:nvPr/>
        </p:nvSpPr>
        <p:spPr>
          <a:xfrm>
            <a:off x="962025" y="2614017"/>
            <a:ext cx="4780597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EA5E9"/>
                </a:solidFill>
                <a:latin typeface="Montserrat"/>
                <a:ea typeface="Montserrat"/>
                <a:cs typeface="Montserrat"/>
                <a:sym typeface="Montserrat"/>
              </a:rPr>
              <a:t>The Concept</a:t>
            </a:r>
            <a:endParaRPr/>
          </a:p>
        </p:txBody>
      </p:sp>
      <p:sp>
        <p:nvSpPr>
          <p:cNvPr id="134" name="Google Shape;134;p17"/>
          <p:cNvSpPr txBox="1"/>
          <p:nvPr/>
        </p:nvSpPr>
        <p:spPr>
          <a:xfrm>
            <a:off x="962025" y="2985492"/>
            <a:ext cx="4552950" cy="10054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The Z-score measures exactly how many </a:t>
            </a:r>
            <a:r>
              <a:rPr b="1" i="0" lang="en-US" sz="16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Standard Deviations</a:t>
            </a:r>
            <a:r>
              <a:rPr b="0" i="0" lang="en-US" sz="16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a data point is away from the mean.</a:t>
            </a:r>
            <a:endParaRPr/>
          </a:p>
        </p:txBody>
      </p:sp>
      <p:sp>
        <p:nvSpPr>
          <p:cNvPr id="135" name="Google Shape;135;p17"/>
          <p:cNvSpPr txBox="1"/>
          <p:nvPr/>
        </p:nvSpPr>
        <p:spPr>
          <a:xfrm>
            <a:off x="962025" y="4133850"/>
            <a:ext cx="4552950" cy="10054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If your data follows a normal "Bell Curve" distribution, nearly all normal data sits close to 0. Anything too far out is flagged as an outlier.</a:t>
            </a:r>
            <a:endParaRPr/>
          </a:p>
        </p:txBody>
      </p:sp>
      <p:sp>
        <p:nvSpPr>
          <p:cNvPr id="136" name="Google Shape;136;p17"/>
          <p:cNvSpPr txBox="1"/>
          <p:nvPr/>
        </p:nvSpPr>
        <p:spPr>
          <a:xfrm>
            <a:off x="6677025" y="2763887"/>
            <a:ext cx="4780597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EA5E9"/>
                </a:solidFill>
                <a:latin typeface="Montserrat"/>
                <a:ea typeface="Montserrat"/>
                <a:cs typeface="Montserrat"/>
                <a:sym typeface="Montserrat"/>
              </a:rPr>
              <a:t>The Formula</a:t>
            </a:r>
            <a:endParaRPr/>
          </a:p>
        </p:txBody>
      </p:sp>
      <p:sp>
        <p:nvSpPr>
          <p:cNvPr id="137" name="Google Shape;137;p17"/>
          <p:cNvSpPr txBox="1"/>
          <p:nvPr/>
        </p:nvSpPr>
        <p:spPr>
          <a:xfrm>
            <a:off x="6677025" y="4715023"/>
            <a:ext cx="455295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x</a:t>
            </a:r>
            <a:r>
              <a:rPr b="0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= Data Point | </a:t>
            </a:r>
            <a:r>
              <a:rPr b="1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μ</a:t>
            </a:r>
            <a:r>
              <a:rPr b="0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= Mean | </a:t>
            </a:r>
            <a:r>
              <a:rPr b="1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σ</a:t>
            </a:r>
            <a:r>
              <a:rPr b="0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= Standard Deviation</a:t>
            </a:r>
            <a:endParaRPr/>
          </a:p>
        </p:txBody>
      </p:sp>
      <p:pic>
        <p:nvPicPr>
          <p:cNvPr descr="image.png" id="138" name="Google Shape;138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333333" y="3725912"/>
            <a:ext cx="1240184" cy="398561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17"/>
          <p:cNvSpPr txBox="1"/>
          <p:nvPr/>
        </p:nvSpPr>
        <p:spPr>
          <a:xfrm>
            <a:off x="762000" y="571500"/>
            <a:ext cx="11401425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The Z-Score Method</a:t>
            </a:r>
            <a:endParaRPr/>
          </a:p>
        </p:txBody>
      </p:sp>
      <p:sp>
        <p:nvSpPr>
          <p:cNvPr id="140" name="Google Shape;140;p17"/>
          <p:cNvSpPr/>
          <p:nvPr/>
        </p:nvSpPr>
        <p:spPr>
          <a:xfrm>
            <a:off x="571500" y="571500"/>
            <a:ext cx="57150" cy="51435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5" name="Google Shape;145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96000" y="0"/>
            <a:ext cx="6096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18"/>
          <p:cNvSpPr txBox="1"/>
          <p:nvPr/>
        </p:nvSpPr>
        <p:spPr>
          <a:xfrm>
            <a:off x="762000" y="571500"/>
            <a:ext cx="5000625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Visualizing Z-Scores</a:t>
            </a:r>
            <a:endParaRPr/>
          </a:p>
        </p:txBody>
      </p:sp>
      <p:sp>
        <p:nvSpPr>
          <p:cNvPr id="147" name="Google Shape;147;p18"/>
          <p:cNvSpPr/>
          <p:nvPr/>
        </p:nvSpPr>
        <p:spPr>
          <a:xfrm>
            <a:off x="571500" y="571500"/>
            <a:ext cx="57150" cy="51435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8"/>
          <p:cNvSpPr txBox="1"/>
          <p:nvPr/>
        </p:nvSpPr>
        <p:spPr>
          <a:xfrm>
            <a:off x="571500" y="2179736"/>
            <a:ext cx="4953000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In the Z-score method, we typically use a threshold of </a:t>
            </a:r>
            <a:r>
              <a:rPr b="1" i="0" lang="en-US" sz="16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+3 or -3</a:t>
            </a:r>
            <a:r>
              <a:rPr b="0" i="0" lang="en-US" sz="16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/>
          </a:p>
        </p:txBody>
      </p:sp>
      <p:sp>
        <p:nvSpPr>
          <p:cNvPr id="149" name="Google Shape;149;p18"/>
          <p:cNvSpPr txBox="1"/>
          <p:nvPr/>
        </p:nvSpPr>
        <p:spPr>
          <a:xfrm>
            <a:off x="571500" y="4568130"/>
            <a:ext cx="4953000" cy="10054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Because 99.7% of data in a normal distribution falls within 3 standard deviations, anything beyond these "tails" is highly unusual.</a:t>
            </a:r>
            <a:endParaRPr/>
          </a:p>
        </p:txBody>
      </p:sp>
      <p:sp>
        <p:nvSpPr>
          <p:cNvPr id="150" name="Google Shape;150;p18"/>
          <p:cNvSpPr txBox="1"/>
          <p:nvPr/>
        </p:nvSpPr>
        <p:spPr>
          <a:xfrm>
            <a:off x="1000125" y="3135808"/>
            <a:ext cx="4524375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If </a:t>
            </a:r>
            <a:r>
              <a:rPr b="1" i="0" lang="en-US" sz="165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Z &gt; 3</a:t>
            </a:r>
            <a:r>
              <a:rPr b="0" i="0" lang="en-US" sz="16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, the value is abnormally high.</a:t>
            </a:r>
            <a:endParaRPr/>
          </a:p>
        </p:txBody>
      </p:sp>
      <p:sp>
        <p:nvSpPr>
          <p:cNvPr id="151" name="Google Shape;151;p18"/>
          <p:cNvSpPr txBox="1"/>
          <p:nvPr/>
        </p:nvSpPr>
        <p:spPr>
          <a:xfrm>
            <a:off x="1000125" y="3709094"/>
            <a:ext cx="4524375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If </a:t>
            </a:r>
            <a:r>
              <a:rPr b="1" i="0" lang="en-US" sz="165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Z &lt; -3</a:t>
            </a:r>
            <a:r>
              <a:rPr b="0" i="0" lang="en-US" sz="16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, the value is abnormally low.</a:t>
            </a:r>
            <a:endParaRPr/>
          </a:p>
        </p:txBody>
      </p:sp>
      <p:pic>
        <p:nvPicPr>
          <p:cNvPr descr="image.png" id="152" name="Google Shape;152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3154858"/>
            <a:ext cx="247650" cy="257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3" name="Google Shape;153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3728144"/>
            <a:ext cx="247650" cy="257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p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402300" y="571500"/>
            <a:ext cx="5593175" cy="5073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9" name="Google Shape;159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81750" y="2513111"/>
            <a:ext cx="5238750" cy="2727126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9"/>
          <p:cNvSpPr txBox="1"/>
          <p:nvPr/>
        </p:nvSpPr>
        <p:spPr>
          <a:xfrm>
            <a:off x="571500" y="2513111"/>
            <a:ext cx="5238750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The </a:t>
            </a:r>
            <a:r>
              <a:rPr b="1" i="0" lang="en-US" sz="16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Interquartile Range (IQR)</a:t>
            </a:r>
            <a:r>
              <a:rPr b="0" i="0" lang="en-US" sz="16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focuses on the middle 50% of your data.</a:t>
            </a:r>
            <a:endParaRPr/>
          </a:p>
        </p:txBody>
      </p:sp>
      <p:sp>
        <p:nvSpPr>
          <p:cNvPr id="161" name="Google Shape;161;p19"/>
          <p:cNvSpPr txBox="1"/>
          <p:nvPr/>
        </p:nvSpPr>
        <p:spPr>
          <a:xfrm>
            <a:off x="571500" y="3373933"/>
            <a:ext cx="5238750" cy="13406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Unlike the Z-score, the IQR method does NOT require your data to follow a perfect bell curve. It is based on medians and percentiles, making it highly robust against extreme values.</a:t>
            </a:r>
            <a:endParaRPr/>
          </a:p>
        </p:txBody>
      </p:sp>
      <p:sp>
        <p:nvSpPr>
          <p:cNvPr id="162" name="Google Shape;162;p19"/>
          <p:cNvSpPr txBox="1"/>
          <p:nvPr/>
        </p:nvSpPr>
        <p:spPr>
          <a:xfrm>
            <a:off x="571500" y="4905077"/>
            <a:ext cx="523875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We visualize this method using a </a:t>
            </a:r>
            <a:r>
              <a:rPr b="1" i="0" lang="en-US" sz="16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Box Plot</a:t>
            </a:r>
            <a:r>
              <a:rPr b="0" i="0" lang="en-US" sz="16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/>
          </a:p>
        </p:txBody>
      </p:sp>
      <p:pic>
        <p:nvPicPr>
          <p:cNvPr descr="image.png" id="163" name="Google Shape;163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91275" y="2522636"/>
            <a:ext cx="5219700" cy="2708076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19"/>
          <p:cNvSpPr txBox="1"/>
          <p:nvPr/>
        </p:nvSpPr>
        <p:spPr>
          <a:xfrm>
            <a:off x="762000" y="571500"/>
            <a:ext cx="11401425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The IQR Method</a:t>
            </a:r>
            <a:endParaRPr/>
          </a:p>
        </p:txBody>
      </p:sp>
      <p:sp>
        <p:nvSpPr>
          <p:cNvPr id="165" name="Google Shape;165;p19"/>
          <p:cNvSpPr/>
          <p:nvPr/>
        </p:nvSpPr>
        <p:spPr>
          <a:xfrm>
            <a:off x="571500" y="571500"/>
            <a:ext cx="57150" cy="51435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0"/>
          <p:cNvSpPr txBox="1"/>
          <p:nvPr/>
        </p:nvSpPr>
        <p:spPr>
          <a:xfrm>
            <a:off x="571500" y="2762250"/>
            <a:ext cx="4419600" cy="17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0" u="none" cap="none" strike="noStrike">
                <a:solidFill>
                  <a:srgbClr val="0EA5E9"/>
                </a:solidFill>
                <a:latin typeface="Montserrat"/>
                <a:ea typeface="Montserrat"/>
                <a:cs typeface="Montserrat"/>
                <a:sym typeface="Montserrat"/>
              </a:rPr>
              <a:t>1.5</a:t>
            </a:r>
            <a:endParaRPr/>
          </a:p>
        </p:txBody>
      </p:sp>
      <p:sp>
        <p:nvSpPr>
          <p:cNvPr id="171" name="Google Shape;171;p20"/>
          <p:cNvSpPr txBox="1"/>
          <p:nvPr/>
        </p:nvSpPr>
        <p:spPr>
          <a:xfrm>
            <a:off x="571500" y="4619625"/>
            <a:ext cx="4419600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The Magic Constant</a:t>
            </a:r>
            <a:endParaRPr/>
          </a:p>
        </p:txBody>
      </p:sp>
      <p:sp>
        <p:nvSpPr>
          <p:cNvPr id="172" name="Google Shape;172;p20"/>
          <p:cNvSpPr txBox="1"/>
          <p:nvPr/>
        </p:nvSpPr>
        <p:spPr>
          <a:xfrm>
            <a:off x="5562600" y="2256829"/>
            <a:ext cx="6360795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Setting the "Fences"</a:t>
            </a:r>
            <a:endParaRPr/>
          </a:p>
        </p:txBody>
      </p:sp>
      <p:sp>
        <p:nvSpPr>
          <p:cNvPr id="173" name="Google Shape;173;p20"/>
          <p:cNvSpPr txBox="1"/>
          <p:nvPr/>
        </p:nvSpPr>
        <p:spPr>
          <a:xfrm>
            <a:off x="5562600" y="2818804"/>
            <a:ext cx="6057900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To detect outliers using IQR, we build invisible boundaries (fences) around our data:</a:t>
            </a:r>
            <a:endParaRPr/>
          </a:p>
        </p:txBody>
      </p:sp>
      <p:sp>
        <p:nvSpPr>
          <p:cNvPr id="174" name="Google Shape;174;p20"/>
          <p:cNvSpPr txBox="1"/>
          <p:nvPr/>
        </p:nvSpPr>
        <p:spPr>
          <a:xfrm>
            <a:off x="5562600" y="4826198"/>
            <a:ext cx="6057900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Any data point that falls below the lower bound or above the upper bound is officially classified as an outlier.</a:t>
            </a:r>
            <a:endParaRPr/>
          </a:p>
        </p:txBody>
      </p:sp>
      <p:sp>
        <p:nvSpPr>
          <p:cNvPr id="175" name="Google Shape;175;p20"/>
          <p:cNvSpPr txBox="1"/>
          <p:nvPr/>
        </p:nvSpPr>
        <p:spPr>
          <a:xfrm>
            <a:off x="5991225" y="3679626"/>
            <a:ext cx="5629275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Lower Bound:</a:t>
            </a:r>
            <a:r>
              <a:rPr b="0" i="0" lang="en-US" sz="16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Q1 - (1.5 × IQR)</a:t>
            </a:r>
            <a:endParaRPr/>
          </a:p>
        </p:txBody>
      </p:sp>
      <p:sp>
        <p:nvSpPr>
          <p:cNvPr id="176" name="Google Shape;176;p20"/>
          <p:cNvSpPr txBox="1"/>
          <p:nvPr/>
        </p:nvSpPr>
        <p:spPr>
          <a:xfrm>
            <a:off x="5991225" y="4252912"/>
            <a:ext cx="5629275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Upper Bound:</a:t>
            </a:r>
            <a:r>
              <a:rPr b="0" i="0" lang="en-US" sz="16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Q3 + (1.5 × IQR)</a:t>
            </a:r>
            <a:endParaRPr/>
          </a:p>
        </p:txBody>
      </p:sp>
      <p:sp>
        <p:nvSpPr>
          <p:cNvPr id="177" name="Google Shape;177;p20"/>
          <p:cNvSpPr txBox="1"/>
          <p:nvPr/>
        </p:nvSpPr>
        <p:spPr>
          <a:xfrm>
            <a:off x="762000" y="571500"/>
            <a:ext cx="11401425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The 1.5x Multiplier</a:t>
            </a:r>
            <a:endParaRPr/>
          </a:p>
        </p:txBody>
      </p:sp>
      <p:sp>
        <p:nvSpPr>
          <p:cNvPr id="178" name="Google Shape;178;p20"/>
          <p:cNvSpPr/>
          <p:nvPr/>
        </p:nvSpPr>
        <p:spPr>
          <a:xfrm>
            <a:off x="571500" y="571500"/>
            <a:ext cx="57150" cy="51435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79" name="Google Shape;179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562600" y="3698676"/>
            <a:ext cx="247650" cy="257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0" name="Google Shape;180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562600" y="4271962"/>
            <a:ext cx="247650" cy="257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21"/>
          <p:cNvSpPr/>
          <p:nvPr/>
        </p:nvSpPr>
        <p:spPr>
          <a:xfrm>
            <a:off x="-1428750" y="3524250"/>
            <a:ext cx="4762500" cy="4762500"/>
          </a:xfrm>
          <a:prstGeom prst="roundRect">
            <a:avLst>
              <a:gd fmla="val 50000" name="adj"/>
            </a:avLst>
          </a:prstGeom>
          <a:solidFill>
            <a:srgbClr val="F59E0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21"/>
          <p:cNvSpPr/>
          <p:nvPr/>
        </p:nvSpPr>
        <p:spPr>
          <a:xfrm>
            <a:off x="5381625" y="2615505"/>
            <a:ext cx="1428750" cy="762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21"/>
          <p:cNvSpPr txBox="1"/>
          <p:nvPr/>
        </p:nvSpPr>
        <p:spPr>
          <a:xfrm>
            <a:off x="2205513" y="2977455"/>
            <a:ext cx="7780972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400" u="none" cap="none" strike="noStrik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2. Handling Methods</a:t>
            </a:r>
            <a:endParaRPr/>
          </a:p>
        </p:txBody>
      </p:sp>
      <p:sp>
        <p:nvSpPr>
          <p:cNvPr id="188" name="Google Shape;188;p21"/>
          <p:cNvSpPr txBox="1"/>
          <p:nvPr/>
        </p:nvSpPr>
        <p:spPr>
          <a:xfrm>
            <a:off x="3071812" y="4101405"/>
            <a:ext cx="6048375" cy="4266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We found them. Now what do we do with them?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3" name="Google Shape;193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81750" y="1772245"/>
            <a:ext cx="5238750" cy="4208859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22"/>
          <p:cNvSpPr txBox="1"/>
          <p:nvPr/>
        </p:nvSpPr>
        <p:spPr>
          <a:xfrm>
            <a:off x="571500" y="1772245"/>
            <a:ext cx="5238750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Deleting outliers means losing data. </a:t>
            </a:r>
            <a:r>
              <a:rPr b="1" i="0" lang="en-US" sz="16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Winsorization</a:t>
            </a:r>
            <a:r>
              <a:rPr b="0" i="0" lang="en-US" sz="16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offers an alternative: we "cap" the extreme values.</a:t>
            </a:r>
            <a:endParaRPr/>
          </a:p>
        </p:txBody>
      </p:sp>
      <p:sp>
        <p:nvSpPr>
          <p:cNvPr id="195" name="Google Shape;195;p22"/>
          <p:cNvSpPr txBox="1"/>
          <p:nvPr/>
        </p:nvSpPr>
        <p:spPr>
          <a:xfrm>
            <a:off x="571500" y="2633067"/>
            <a:ext cx="5238750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For example, if we cap data at the 1st and 99th percentiles:</a:t>
            </a:r>
            <a:endParaRPr/>
          </a:p>
        </p:txBody>
      </p:sp>
      <p:sp>
        <p:nvSpPr>
          <p:cNvPr id="196" name="Google Shape;196;p22"/>
          <p:cNvSpPr txBox="1"/>
          <p:nvPr/>
        </p:nvSpPr>
        <p:spPr>
          <a:xfrm>
            <a:off x="571500" y="5310782"/>
            <a:ext cx="5238750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This prevents extremes from distorting the mean while keeping our dataset size intact.</a:t>
            </a:r>
            <a:endParaRPr/>
          </a:p>
        </p:txBody>
      </p:sp>
      <p:pic>
        <p:nvPicPr>
          <p:cNvPr descr="image.png" id="197" name="Google Shape;197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91275" y="1781770"/>
            <a:ext cx="5219700" cy="4189809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22"/>
          <p:cNvSpPr txBox="1"/>
          <p:nvPr/>
        </p:nvSpPr>
        <p:spPr>
          <a:xfrm>
            <a:off x="1000125" y="3493889"/>
            <a:ext cx="4810125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Any value above the 99th percentile is replaced by the exact 99th percentile value.</a:t>
            </a:r>
            <a:endParaRPr/>
          </a:p>
        </p:txBody>
      </p:sp>
      <p:sp>
        <p:nvSpPr>
          <p:cNvPr id="199" name="Google Shape;199;p22"/>
          <p:cNvSpPr txBox="1"/>
          <p:nvPr/>
        </p:nvSpPr>
        <p:spPr>
          <a:xfrm>
            <a:off x="1000125" y="4402335"/>
            <a:ext cx="4810125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Any value below the 1st percentile is replaced by the 1st percentile value.</a:t>
            </a:r>
            <a:endParaRPr/>
          </a:p>
        </p:txBody>
      </p:sp>
      <p:sp>
        <p:nvSpPr>
          <p:cNvPr id="200" name="Google Shape;200;p22"/>
          <p:cNvSpPr txBox="1"/>
          <p:nvPr/>
        </p:nvSpPr>
        <p:spPr>
          <a:xfrm>
            <a:off x="762000" y="571500"/>
            <a:ext cx="11401425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The Winsorization Method</a:t>
            </a:r>
            <a:endParaRPr/>
          </a:p>
        </p:txBody>
      </p:sp>
      <p:sp>
        <p:nvSpPr>
          <p:cNvPr id="201" name="Google Shape;201;p22"/>
          <p:cNvSpPr/>
          <p:nvPr/>
        </p:nvSpPr>
        <p:spPr>
          <a:xfrm>
            <a:off x="571500" y="571500"/>
            <a:ext cx="57150" cy="51435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02" name="Google Shape;202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3512939"/>
            <a:ext cx="247650" cy="257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3" name="Google Shape;203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4421385"/>
            <a:ext cx="247650" cy="257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8" name="Google Shape;208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31125" y="1671236"/>
            <a:ext cx="5334000" cy="4251126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23"/>
          <p:cNvSpPr txBox="1"/>
          <p:nvPr/>
        </p:nvSpPr>
        <p:spPr>
          <a:xfrm>
            <a:off x="4264525" y="2884792"/>
            <a:ext cx="4780500" cy="2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Iterative Testing</a:t>
            </a:r>
            <a:endParaRPr/>
          </a:p>
        </p:txBody>
      </p:sp>
      <p:sp>
        <p:nvSpPr>
          <p:cNvPr id="210" name="Google Shape;210;p23"/>
          <p:cNvSpPr txBox="1"/>
          <p:nvPr/>
        </p:nvSpPr>
        <p:spPr>
          <a:xfrm>
            <a:off x="4264525" y="3103867"/>
            <a:ext cx="4553100" cy="66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Data science is often about trial and error. Don't blindly apply one rule!</a:t>
            </a:r>
            <a:endParaRPr/>
          </a:p>
        </p:txBody>
      </p:sp>
      <p:sp>
        <p:nvSpPr>
          <p:cNvPr id="211" name="Google Shape;211;p23"/>
          <p:cNvSpPr txBox="1"/>
          <p:nvPr/>
        </p:nvSpPr>
        <p:spPr>
          <a:xfrm>
            <a:off x="4264525" y="3917064"/>
            <a:ext cx="4553100" cy="147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Run your analysis or train your model three ways: keeping outliers, deleting outliers, and capping outliers. Compare the final results to see which yields the highest accuracy.</a:t>
            </a:r>
            <a:endParaRPr/>
          </a:p>
        </p:txBody>
      </p:sp>
      <p:pic>
        <p:nvPicPr>
          <p:cNvPr descr="image.png" id="212" name="Google Shape;212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264525" y="2160892"/>
            <a:ext cx="476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23"/>
          <p:cNvSpPr txBox="1"/>
          <p:nvPr/>
        </p:nvSpPr>
        <p:spPr>
          <a:xfrm>
            <a:off x="762000" y="571500"/>
            <a:ext cx="11401425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The Pragmatic Approach</a:t>
            </a:r>
            <a:endParaRPr/>
          </a:p>
        </p:txBody>
      </p:sp>
      <p:sp>
        <p:nvSpPr>
          <p:cNvPr id="214" name="Google Shape;214;p23"/>
          <p:cNvSpPr/>
          <p:nvPr/>
        </p:nvSpPr>
        <p:spPr>
          <a:xfrm>
            <a:off x="571500" y="571500"/>
            <a:ext cx="57150" cy="51435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